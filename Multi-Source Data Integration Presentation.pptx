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2" y="-15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5300" y="778780"/>
            <a:ext cx="6849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E293B"/>
                </a:solidFill>
                <a:latin typeface="Berlin Sans FB" panose="020E0602020502020306" pitchFamily="34" charset="0"/>
              </a:rPr>
              <a:t>Why Did Volumetric Flow Rates Fluctuate?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945" y="1489628"/>
            <a:ext cx="5923946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Core Challenge: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Unexplained output dips were detected across operating plant sectors (Zone West, Central, East, North, South).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284" y="2710656"/>
            <a:ext cx="5759056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External Hypothesis: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Did external rainfall or outdoor temperatures suppress fluid throughput?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943" y="3931685"/>
            <a:ext cx="560070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Internal Hypothesis: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Or were variances driven by operating pressure instability and technician headcount allocation?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942" y="5232834"/>
            <a:ext cx="5923949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Objective: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Integrate 3 disparate data streams into a unified Master </a:t>
            </a:r>
            <a:r>
              <a:rPr sz="2400" b="0" i="0" u="none" dirty="0" err="1">
                <a:solidFill>
                  <a:srgbClr val="475569"/>
                </a:solidFill>
                <a:latin typeface="Berlin Sans FB" panose="020E0602020502020306" pitchFamily="34" charset="0"/>
              </a:rPr>
              <a:t>DataFrame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to perform statistical correlation analysis.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891" y="1653446"/>
            <a:ext cx="5314950" cy="3600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0284" y="165747"/>
            <a:ext cx="11451431" cy="398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sz="2400" b="1" i="0" u="sng" dirty="0">
                <a:solidFill>
                  <a:srgbClr val="0F172A"/>
                </a:solidFill>
                <a:latin typeface="Berlin Sans FB" panose="020E0602020502020306" pitchFamily="34" charset="0"/>
              </a:rPr>
              <a:t>The Operational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 t="1" r="56286" b="3636"/>
          <a:stretch>
            <a:fillRect/>
          </a:stretch>
        </p:blipFill>
        <p:spPr>
          <a:xfrm>
            <a:off x="542925" y="1167848"/>
            <a:ext cx="3180397" cy="50482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" y="1786972"/>
            <a:ext cx="523875" cy="523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7681" y="2350740"/>
            <a:ext cx="318039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sng" dirty="0">
                <a:solidFill>
                  <a:srgbClr val="1E293B"/>
                </a:solidFill>
                <a:latin typeface="Berlin Sans FB" panose="020E0602020502020306" pitchFamily="34" charset="0"/>
              </a:rPr>
              <a:t>Operational</a:t>
            </a:r>
            <a:r>
              <a:rPr sz="1800" b="0" i="0" u="sng" dirty="0">
                <a:solidFill>
                  <a:srgbClr val="1E293B"/>
                </a:solidFill>
                <a:latin typeface="Poppins SemiBold"/>
              </a:rPr>
              <a:t>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681" y="2857974"/>
            <a:ext cx="3028950" cy="2257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Cleaned sensor logs (cleaned_sensor_readings.csv). Grouped by date and zone to aggregate daily mean </a:t>
            </a:r>
            <a:r>
              <a:rPr sz="2400" b="1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Pressure (PSI)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, mean </a:t>
            </a:r>
            <a:r>
              <a:rPr sz="2400" b="1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Temp (°C)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, and total </a:t>
            </a:r>
            <a:r>
              <a:rPr sz="2400" b="1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Flow Rate (LPM)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rcRect r="54182" b="11618"/>
          <a:stretch>
            <a:fillRect/>
          </a:stretch>
        </p:blipFill>
        <p:spPr>
          <a:xfrm>
            <a:off x="4291250" y="1167848"/>
            <a:ext cx="3180397" cy="4630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175" y="1786972"/>
            <a:ext cx="523875" cy="523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1249" y="2439434"/>
            <a:ext cx="318039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sng" dirty="0">
                <a:solidFill>
                  <a:srgbClr val="1E293B"/>
                </a:solidFill>
                <a:latin typeface="Berlin Sans FB" panose="020E0602020502020306" pitchFamily="34" charset="0"/>
              </a:rPr>
              <a:t>Weather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2913" y="2937617"/>
            <a:ext cx="3028950" cy="225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Fetched real-time </a:t>
            </a:r>
            <a:r>
              <a:rPr sz="2400" b="1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Precipitation (mm)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and </a:t>
            </a:r>
            <a:r>
              <a:rPr sz="2400" b="1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Max Outdoor Temp (°C)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using </a:t>
            </a:r>
            <a:r>
              <a:rPr sz="2400" b="0" i="0" u="none" dirty="0" err="1">
                <a:solidFill>
                  <a:srgbClr val="475569"/>
                </a:solidFill>
                <a:latin typeface="Berlin Sans FB" panose="020E0602020502020306" pitchFamily="34" charset="0"/>
              </a:rPr>
              <a:t>requests.get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() wrapped in try-except exception handling to guarantee fallback reliability.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rcRect r="51797" b="11617"/>
          <a:stretch>
            <a:fillRect/>
          </a:stretch>
        </p:blipFill>
        <p:spPr>
          <a:xfrm>
            <a:off x="8178403" y="1167847"/>
            <a:ext cx="3345894" cy="4630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138" y="1685024"/>
            <a:ext cx="523875" cy="523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43900" y="2364417"/>
            <a:ext cx="318039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sng" dirty="0">
                <a:solidFill>
                  <a:srgbClr val="1E293B"/>
                </a:solidFill>
                <a:latin typeface="Berlin Sans FB" panose="020E0602020502020306" pitchFamily="34" charset="0"/>
              </a:rPr>
              <a:t>SQLite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875" y="2808766"/>
            <a:ext cx="3028950" cy="225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Queried relational zones and shifts tables using SQL JOIN and GROUP BY to aggregate total </a:t>
            </a:r>
            <a:r>
              <a:rPr sz="2400" b="1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Assigned Staff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and </a:t>
            </a:r>
            <a:r>
              <a:rPr sz="2400" b="1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Target Flow Rates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directly into Pandas.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99" y="1915559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6762" y="1915559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2013" y="1813611"/>
            <a:ext cx="23812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4375" y="249870"/>
            <a:ext cx="11451431" cy="434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sz="2850" b="1" i="0" u="sng" dirty="0">
                <a:solidFill>
                  <a:srgbClr val="0F172A"/>
                </a:solidFill>
                <a:latin typeface="Berlin Sans FB" panose="020E0602020502020306" pitchFamily="34" charset="0"/>
              </a:rPr>
              <a:t>Multi-Source Data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7775" y="1028282"/>
            <a:ext cx="457057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sng" dirty="0">
                <a:solidFill>
                  <a:srgbClr val="0F172A"/>
                </a:solidFill>
                <a:latin typeface="Berlin Sans FB" panose="020E0602020502020306" pitchFamily="34" charset="0"/>
              </a:rPr>
              <a:t>Key Pipeline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5150" y="958217"/>
            <a:ext cx="463057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sng" dirty="0">
                <a:solidFill>
                  <a:srgbClr val="0F172A"/>
                </a:solidFill>
                <a:latin typeface="Berlin Sans FB" panose="020E0602020502020306" pitchFamily="34" charset="0"/>
              </a:rPr>
              <a:t>Business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1530498"/>
            <a:ext cx="436245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Zero Weather Correlation: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External rainfall showed negligible correlation () with volumetric flow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2914872"/>
            <a:ext cx="436245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Pressure Dominance: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Internal operating pressure () is the primary driver of daily flow throughput.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8725" y="4395961"/>
            <a:ext cx="436245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Staffing Impact: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Zones with full technician allocations () consistently met target flow capacity.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150" y="1409601"/>
            <a:ext cx="4857750" cy="1125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Stabilize Pressure Baselines: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Focus engineering controls on maintaining baseline pressure at ~200 PSI rather than monitoring external weather.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5150" y="2771499"/>
            <a:ext cx="485775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Dynamic Shift Scheduling: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Align technician staffing headcounts dynamically with zone capacity ratings (High vs Medium capacity).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4234259"/>
            <a:ext cx="485775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0F172A"/>
                </a:solidFill>
                <a:latin typeface="Berlin Sans FB" panose="020E0602020502020306" pitchFamily="34" charset="0"/>
              </a:rPr>
              <a:t>Automate Data Pipeline:</a:t>
            </a:r>
            <a:r>
              <a:rPr sz="2400" b="0" i="0" u="none" dirty="0">
                <a:solidFill>
                  <a:srgbClr val="475569"/>
                </a:solidFill>
                <a:latin typeface="Berlin Sans FB" panose="020E0602020502020306" pitchFamily="34" charset="0"/>
              </a:rPr>
              <a:t> Operationalize this multi-source ETL script into production for automated daily shift reporting.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569" y="304445"/>
            <a:ext cx="11451431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sz="2400" b="1" i="0" u="sng" dirty="0">
                <a:solidFill>
                  <a:srgbClr val="0F172A"/>
                </a:solidFill>
                <a:latin typeface="Berlin Sans FB" panose="020E0602020502020306" pitchFamily="34" charset="0"/>
              </a:rPr>
              <a:t>Insights &amp; Business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293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Berlin Sans FB</vt:lpstr>
      <vt:lpstr>Calibri</vt:lpstr>
      <vt:lpstr>Poppins SemiBold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Kipngeno Brian</cp:lastModifiedBy>
  <cp:revision>3</cp:revision>
  <dcterms:created xsi:type="dcterms:W3CDTF">2013-01-27T09:14:16Z</dcterms:created>
  <dcterms:modified xsi:type="dcterms:W3CDTF">2026-08-02T08:14:20Z</dcterms:modified>
  <cp:category/>
</cp:coreProperties>
</file>